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jpg"/><Relationship Id="rId5" Type="http://schemas.openxmlformats.org/officeDocument/2006/relationships/image" Target="../media/image17.png"/><Relationship Id="rId4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5358" y="2192684"/>
            <a:ext cx="10261282" cy="7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1E3A8A"/>
                </a:solidFill>
                <a:latin typeface="Poppins"/>
              </a:rPr>
              <a:t>Machine Learning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3846165"/>
            <a:ext cx="9772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64748B"/>
                </a:solidFill>
                <a:latin typeface="Inter"/>
              </a:rPr>
              <a:t>A beginner-friendly guide to understanding concepts </a:t>
            </a:r>
            <a:r>
              <a:rPr sz="1800" b="0" i="1" u="none">
                <a:solidFill>
                  <a:srgbClr val="64748B"/>
                </a:solidFill>
                <a:latin typeface="Inter"/>
              </a:rPr>
              <a:t>before</a:t>
            </a:r>
            <a:r>
              <a:rPr sz="1800" b="0" i="0" u="none">
                <a:solidFill>
                  <a:srgbClr val="64748B"/>
                </a:solidFill>
                <a:latin typeface="Inter"/>
              </a:rPr>
              <a:t>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71675"/>
            <a:ext cx="3492549" cy="3514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71675"/>
            <a:ext cx="3492549" cy="3514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71675"/>
            <a:ext cx="3492549" cy="3514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225" y="3019425"/>
            <a:ext cx="304709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1. Preparing the Ingredients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05250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Feature Engineering: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How to clean, slice, and prep raw data so our ML model can easily digest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813" y="3019425"/>
            <a:ext cx="299037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2. Following the Recipe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33775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ML Workflows: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The step-by-step process of training a model without accidentally "cheating" on the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170" y="3019425"/>
            <a:ext cx="207025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3. Taste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533775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Model Evaluation: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Simple ways to score our model's performance to know if it's actually doing a good job.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7675" y="2314575"/>
            <a:ext cx="4000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231457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2849" y="2314575"/>
            <a:ext cx="3429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Our Journey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0548" y="2081212"/>
            <a:ext cx="7230903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oppins"/>
              </a:rPr>
              <a:t>1.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462337"/>
            <a:ext cx="952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3805237"/>
            <a:ext cx="7620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Turning messy, real-world data into something a computer can understand.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062162"/>
            <a:ext cx="5095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The Problem: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Computers are very literal. If you give a model a column called "Birthdate: 1990-05-14", it just sees a random string of text and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062287"/>
            <a:ext cx="5095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The Solution: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We create a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new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column called "Age: 34". Now the computer can easily see a pattern!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76662"/>
            <a:ext cx="5095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Why it matters: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Feature Engineering is simply helping the model connect the dots by giving it better clues.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0431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0432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7576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What is Feature Engineering?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5334000" cy="3829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4512"/>
            <a:ext cx="5334000" cy="3829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205037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The Problem: "The Billionaire Effect"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719387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Imagine measuring average wealth in a room of 10 people making $50k. If Elon Musk walks in, the "average" wealth becomes $10 Billion.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719512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Extreme outliers confuse machine learning models. They skew the perspective.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05037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The Solution: "Squashing"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719387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Log Transformation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acts like a volume knob, turning down extreme values so they don't drown out the normal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Taming Extreme Values (Log Transformation)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23962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1223962"/>
            <a:ext cx="5095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The Concept: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Think of sorting laundry into "Lights", "Darks", and "Colors". You don't need 50 different categories, just a few broad buckets.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224087"/>
            <a:ext cx="50958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Why use it?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Sometimes exact numbers are too noisy. Is there a big difference between earning $50,001 and $50,002? No. It's better to put them both in an "Average Income" bucket.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233487"/>
            <a:ext cx="5314950" cy="3314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2049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2050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38137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Binning: Sorting into Buckets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EB1744-A00A-EEBB-42B6-BD38A8E6E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646" y="1223962"/>
            <a:ext cx="5005746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95450"/>
            <a:ext cx="5334000" cy="406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95450"/>
            <a:ext cx="5334000" cy="406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085975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Interaction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600325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Combining two basic clues to make one super clue.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314700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Example: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Knowing a house's Length and Width is okay. But multiplying them to create Total_Area is a massive help to the model!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085975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Polynomial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00325"/>
            <a:ext cx="4552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Handling curves instead of straight 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028950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Example: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 little experience gets you a small raise. A LOT of experience gets you a massive raise. The impact curves upward (it squares).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Combining Clues (Interaction Features)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14512"/>
            <a:ext cx="772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Models cannot read words like "Red" or "Small". We must encode text into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290762"/>
            <a:ext cx="11049000" cy="33528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2290762"/>
          <a:ext cx="110394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Technique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Analogy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When to use it?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What it looks like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Label Encoding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T-Shirt Sizes: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They have a logical order. Medium is bigger than Small.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When categories have a natural ranking (Ordinal).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Small = 1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Medium = 2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Large =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One-Hot Encoding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Ice Cream Flavors: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Vanilla isn't "greater" than Chocolate. They are just different.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When categories have NO ranking (Nominal).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Is_Vanilla = 1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Is_Chocolate =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6262" y="3209925"/>
            <a:ext cx="1829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05955" y="3209925"/>
            <a:ext cx="3973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79071" y="3209925"/>
            <a:ext cx="33901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69226" y="3209925"/>
            <a:ext cx="1846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262" y="4419600"/>
            <a:ext cx="1829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05955" y="4419600"/>
            <a:ext cx="3973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79071" y="4419600"/>
            <a:ext cx="33901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69226" y="4419600"/>
            <a:ext cx="18465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Translating Text into Math (Encoding)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1212"/>
            <a:ext cx="5334000" cy="3295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81212"/>
            <a:ext cx="5334000" cy="3295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71737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Frequency Encoding (Popularity)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986087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If you have 1,000 different Zip Codes, One-Hot Encoding makes 1,000 new columns! That's too messy.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986212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Instead, replace the Zip Code with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how often it appears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. (e.g., "ZipCode_123" becomes "500" because 500 people live there).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471737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Target Encoding (Average Score)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986087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Replace the category with the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average outcome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of that group.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700462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Instead of the word "Brooklyn", we replace it with the average house price in Brooklyn: "$800,000". The model loves this!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Handling Too Many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776537"/>
            <a:ext cx="952574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Log Transform: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We squashed the multi-million dollar house prices so they didn't ruin our averages.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252787"/>
            <a:ext cx="952574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Interaction Features: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We multiplied Width x Length to give the model a Total_Square_Footage clue.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729037"/>
            <a:ext cx="952574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Label Encoding: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We changed Kitchen Quality from (Poor, Fair, Good, Excellent) to (1, 2, 3, 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205287"/>
            <a:ext cx="952574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One-Hot Encoding: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We made separate Yes/No columns for Roof Styles (Is_Flat=1, Is_Gabled=0).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86062"/>
            <a:ext cx="2571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62312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38562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214812"/>
            <a:ext cx="2286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Summary: Prepping a Housing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5381" y="2252662"/>
            <a:ext cx="9901237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oppins"/>
              </a:rPr>
              <a:t>2. Machine Learning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633787"/>
            <a:ext cx="952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05087" y="3976687"/>
            <a:ext cx="6981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How to train models properly without cheating on the final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9957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968" y="4348162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1. Get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62512"/>
            <a:ext cx="254124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Load the data and clean up the missing pieces.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3888" y="2166937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2. Hide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7419" y="2681287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Hide a portion of the data (The Test Set) so the model can't cheat.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9808" y="4348162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3. Train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3339" y="4862512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Let the algorithm look at the remaining data to learn 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728" y="2166937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4. Final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259" y="2681287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Test the model on the hidden data to see if it actually learned.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7820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63740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99659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35579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The ML Assembly 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9775"/>
            <a:ext cx="5334000" cy="3438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9775"/>
            <a:ext cx="5334000" cy="3438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00300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914650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Analogy: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Studying with flashcards that have the answers on the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629025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The dataset includes the final answers (labels). We teach the model by 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343400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Example: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Giving a model photos labeled "Cat" or "Dog" so it learns the difference.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400300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Unsupervised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914650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Analogy: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Being handed a giant bucket of mixed Lego blocks and told to "sort them".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629025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The dataset has NO answers. The model must find hidden groupings on its 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343400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Example: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Grouping customers into different buying habits without knowing who they 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Supervised vs. Unsupervised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11049000" cy="454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The School Analogy (Splitting Data)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24025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1724025"/>
            <a:ext cx="50958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The Danger: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If 90% of emails are normal and 10% are spam, a random split might accidentally put ALL the spam in the Test Set. The model would never see spam during training!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009900"/>
            <a:ext cx="5095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The Fix: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Stratified Sampling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ensures that both your Train and Test sets have the exact same 90/10 mix.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733550"/>
            <a:ext cx="5314950" cy="3314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7049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9908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Keeping Things Fair (Stratified Sampling)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AE4DC5-3644-6BE3-CA50-AF6AF1668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726" y="1690660"/>
            <a:ext cx="4950649" cy="33671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85912"/>
            <a:ext cx="1160145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1E3A8A"/>
                </a:solidFill>
                <a:latin typeface="Poppins"/>
              </a:rPr>
              <a:t>K-Fold Cross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00312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Why rely on just ONE lucky test?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28962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Imagine taking 5 different versions of a Final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86162"/>
            <a:ext cx="11049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In </a:t>
            </a:r>
            <a:r>
              <a:rPr sz="1650" b="1" i="0" u="none">
                <a:solidFill>
                  <a:srgbClr val="334155"/>
                </a:solidFill>
                <a:latin typeface="Inter"/>
              </a:rPr>
              <a:t>K-Fold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, we chop our data into 5 equal pieces. We train the model 5 separate times, rotating which piece acts as the final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500562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1E3A8A"/>
                </a:solidFill>
                <a:latin typeface="Inter"/>
              </a:rPr>
              <a:t>Result: We average all 5 test scores to get a much more trustworthy grade!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9674" y="1802605"/>
            <a:ext cx="5600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1E3A8A"/>
                </a:solidFill>
                <a:latin typeface="Poppins SemiBold"/>
              </a:rPr>
              <a:t>Combining the Best of Both Worlds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8061" y="2519360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As you might guess, </a:t>
            </a:r>
            <a:r>
              <a:rPr sz="1500" b="1" i="0" u="none" dirty="0">
                <a:solidFill>
                  <a:srgbClr val="334155"/>
                </a:solidFill>
                <a:latin typeface="Inter"/>
              </a:rPr>
              <a:t>Stratified K-Fold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just applies the "fair mix" rule to all 5 versions of the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9235" y="3783886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It guarantees that every single fold maintains the correct percentage of each class (e.g., 90% normal, 10% spam). This is the gold standard for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Stratified K-Fold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7412"/>
            <a:ext cx="3492549" cy="3143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57412"/>
            <a:ext cx="3492549" cy="3143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57412"/>
            <a:ext cx="3492549" cy="3143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2614" y="3205162"/>
            <a:ext cx="137017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719512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Sneaking the answer key into the exam room. The model accidentally "sees the future" during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0884" y="3205162"/>
            <a:ext cx="185023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The 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19512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Your model gets 99.9% accuracy on your laptop, but completely fails when you use it in the real world.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9225" y="3205162"/>
            <a:ext cx="119014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The 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719512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ALWAYS separate your Train and Test sets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before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you do any feature engineering or data cleaning.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0525" y="2500312"/>
            <a:ext cx="5143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2500312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5699" y="250031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The Silent Killer: Data Leakage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728912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Split Early: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Cut out your Test Set on step 1 and lock it in a vault. Don't touch it until the very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205162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Fit on Train, Transform on Test: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If you calculate the average age to fill in missing data, ONLY calculate the average of the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Train Set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. Use that same number to fill the Test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967162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Set Random Seeds: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Always write `random_state=42` in your code so that if you run the script tomorrow, it splits the data the exact same way.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8437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14687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76687"/>
            <a:ext cx="2000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Simple Rules to Remember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70596" y="2252662"/>
            <a:ext cx="6450806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oppins"/>
              </a:rPr>
              <a:t>3. Model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633787"/>
            <a:ext cx="952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38537" y="3976687"/>
            <a:ext cx="51149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How do we know if our model is actually good?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3492549" cy="3800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828800"/>
            <a:ext cx="3492549" cy="3800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828800"/>
            <a:ext cx="3492549" cy="3800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7619" y="2876550"/>
            <a:ext cx="13001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390900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Total Correct / Total Guesses.</a:t>
            </a:r>
            <a:r>
              <a:t>
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Good for balanced data. Bad if 99% of the data is the same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524" y="2876550"/>
            <a:ext cx="304709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Precision (The Cautious Guesser)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62375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"When I call an email SPAM, I want to be 100% sure."</a:t>
            </a:r>
            <a:r>
              <a:t>
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Minimizes False Alarms.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0824" y="2876550"/>
            <a:ext cx="304709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Recall (The Over-Achiever)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762375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"I want to catch EVERY SPAM email, even if I accidentally grab some normal ones."</a:t>
            </a:r>
            <a:r>
              <a:t>
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Minimizes Missed Threats.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9100" y="2171700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2171700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4274" y="2171700"/>
            <a:ext cx="40005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Beyond Simple Accuracy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243137"/>
            <a:ext cx="96678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 table that shows exactly how your model is messing up. Let's imagine predicting if someone has a cold.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719387"/>
            <a:ext cx="11049000" cy="2495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2719387"/>
          <a:ext cx="11039473" cy="249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1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185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Model says: SICK (Positive)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Model says: HEALTHY (Negative)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Patient is actually:</a:t>
                      </a:r>
                      <a:r>
                        <a:t>
</a:t>
                      </a:r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
         SICK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True Positive (TP)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Correct Diagnosis!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False Negative (FN)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Oh no, the model missed it!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Patient is actually:</a:t>
                      </a:r>
                      <a:r>
                        <a:t>
</a:t>
                      </a:r>
                      <a:r>
                        <a:rPr sz="1500" b="1" i="0" u="none">
                          <a:solidFill>
                            <a:srgbClr val="1E3A8A"/>
                          </a:solidFill>
                          <a:latin typeface="Inter"/>
                        </a:rPr>
                        <a:t>
         HEALTHY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False Positive (FP)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False Alarm! Scared the patient.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True Negative (TN)</a:t>
                      </a:r>
                      <a:r>
                        <a:t>
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Correct! Patient goes home.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6262" y="3352800"/>
            <a:ext cx="2612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88940" y="3352800"/>
            <a:ext cx="40950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83946" y="3352800"/>
            <a:ext cx="4331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4276725"/>
            <a:ext cx="2612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88940" y="4276725"/>
            <a:ext cx="40950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83946" y="4276725"/>
            <a:ext cx="4331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5200650"/>
            <a:ext cx="2612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The Confusion Matrix (Medical Test Analogy)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11049000" cy="454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100637"/>
            <a:ext cx="1104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AUC (Area Under Curve):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You want the blue line to shoot straight to the top left corner (High True Positives, Low False Alarms). An AUC score of 1.0 is an A+. 0.5 is an F (random guessing).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Grading on a Curve (ROC &amp; AUC)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7412"/>
            <a:ext cx="5381625" cy="3143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57412"/>
            <a:ext cx="5381625" cy="3143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085" y="3205162"/>
            <a:ext cx="363045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MAE (Mean Absolute 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19512"/>
            <a:ext cx="47910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"On average, how far off are we?"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If predicting house prices, an MAE of 10,000 means your predictions are generally off by $10,000 up or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9415" y="3205162"/>
            <a:ext cx="436054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RMSE (Root Mean Squared Error)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719512"/>
            <a:ext cx="47910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"Punish the big mistakes!"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Similar to MAE, but the math heavily penalizes the model if it makes a massive, wildly incorrect guess.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712" y="250031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087" y="250031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Predicting Numbers (Regression Metrics)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6900"/>
            <a:ext cx="5334000" cy="3724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66900"/>
            <a:ext cx="5334000" cy="3724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257425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R-Squared (R²)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771775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Think of it as a score from 0 to 1 (or 0% to 100%).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86150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An R² of 0.80 means your model can confidently explain 80% of why house prices go up and down. (The remaining 20% is random noise).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486275"/>
            <a:ext cx="4552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1" u="none">
                <a:solidFill>
                  <a:srgbClr val="334155"/>
                </a:solidFill>
                <a:latin typeface="Inter"/>
              </a:rPr>
              <a:t>Flaw: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If you give a model useless data, R² still goes 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257425"/>
            <a:ext cx="4780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Adjusted R-Squared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771775"/>
            <a:ext cx="4552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The "Strict Teacher".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200400"/>
            <a:ext cx="4552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It acts just like R², but it mathematically subtracts points from your score if you add useless, garbage columns to your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200525"/>
            <a:ext cx="4552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Rule: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Always trust Adjusted R² more.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Scoring out of 100% (R² &amp; Adjusted R²)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2162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062162"/>
            <a:ext cx="5095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The Concept: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 pipeline acts like a factory assembly line. It links all your cleaning, encoding, and training steps into one single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062287"/>
            <a:ext cx="50958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Why use them?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1. Beautiful, clean code. 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2. Impossible to accidentally leak data. 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3. You can feed raw data into one end, and predictions pop out the other automatically.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71687"/>
            <a:ext cx="5314950" cy="3314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0431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432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The Magic of ML Pipelines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454E8C-1A83-9146-92CD-3B7687219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9846" y="2071687"/>
            <a:ext cx="5193742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9957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968" y="4348162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Station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62512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Imputer: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Automatically fills in any blank spots (NaN) in the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3888" y="2166937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Station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7419" y="2681287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Encoder: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Translates all text columns (like "Red") into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9808" y="4348162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Station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3339" y="4862512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Scaler: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Shrinks giant numbers so they match the small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728" y="2166937"/>
            <a:ext cx="26683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Station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259" y="2681287"/>
            <a:ext cx="2541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Model: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The algorithm that actually learns and predicts!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7820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63740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99659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35579" y="39004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Inside the Assembly Line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0775"/>
            <a:ext cx="12192000" cy="657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66837"/>
            <a:ext cx="5219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Look how incredibly simple and clean the code becomes: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353175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81012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Pipelines in Python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4537"/>
            <a:ext cx="3492549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14537"/>
            <a:ext cx="3492549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14537"/>
            <a:ext cx="3492549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7564" y="3062287"/>
            <a:ext cx="218027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The Golden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576637"/>
            <a:ext cx="29019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Clean data → Feature Engineer → Split Data → Train Model → 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890" y="3062287"/>
            <a:ext cx="175021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Don't Trip Up!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76637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Never test on Training Data.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Don't trust Accuracy on skewed data.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Always One-Hot Encode categories without rankings.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213" y="3062287"/>
            <a:ext cx="137017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1E3A8A"/>
                </a:solidFill>
                <a:latin typeface="Poppins SemiBold"/>
              </a:rPr>
              <a:t>Pro 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576637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Always use Scikit-Learn Pipelines.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Use Stratified Splits for classification problems.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9100" y="2357437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2357437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7124" y="2357437"/>
            <a:ext cx="51435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Poppins SemiBold"/>
              </a:rPr>
              <a:t>Summary &amp; Best Practices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0"/>
            <a:ext cx="12192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481137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E3A8A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14637"/>
            <a:ext cx="11049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1" i="0" u="none">
                <a:solidFill>
                  <a:srgbClr val="334155"/>
                </a:solidFill>
                <a:latin typeface="Inter"/>
              </a:rPr>
              <a:t>Mini-Project Assignment: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376612"/>
            <a:ext cx="76200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Load the classic "Titanic Dataset".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1. Use One-Hot Encoding for Gender.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2. Build a Scikit-Learn Pipeline.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3. Train a Classifier to predict Survival.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4. Print out a Confusion Matrix to see where the model made mistakes!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3415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Instructor Notes: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2175</Words>
  <Application>Microsoft Office PowerPoint</Application>
  <PresentationFormat>Widescreen</PresentationFormat>
  <Paragraphs>199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Inter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Lawal Abiola</cp:lastModifiedBy>
  <cp:revision>2</cp:revision>
  <dcterms:created xsi:type="dcterms:W3CDTF">2013-01-27T09:14:16Z</dcterms:created>
  <dcterms:modified xsi:type="dcterms:W3CDTF">2026-07-25T11:13:13Z</dcterms:modified>
  <cp:category/>
</cp:coreProperties>
</file>